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f60f4ae70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f60f4ae70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f60f4ae70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f60f4ae70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60f4ae70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60f4ae70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60f4ae70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60f4ae70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635725" y="720675"/>
            <a:ext cx="57084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u="sng">
                <a:solidFill>
                  <a:schemeClr val="dk2"/>
                </a:solidFill>
              </a:rPr>
              <a:t>SecureAuthX Pro </a:t>
            </a:r>
            <a:endParaRPr b="1" sz="1800" u="sng">
              <a:solidFill>
                <a:schemeClr val="dk2"/>
              </a:solidFill>
            </a:endParaRPr>
          </a:p>
          <a:p>
            <a:pPr indent="0" lvl="0" marL="0" rtl="0" algn="ctr">
              <a:spcBef>
                <a:spcPts val="0"/>
              </a:spcBef>
              <a:spcAft>
                <a:spcPts val="0"/>
              </a:spcAft>
              <a:buNone/>
            </a:pPr>
            <a:r>
              <a:rPr lang="en">
                <a:solidFill>
                  <a:schemeClr val="dk2"/>
                </a:solidFill>
              </a:rPr>
              <a:t>Securing Digital Identity with Modern Multi-Factor Authentication. </a:t>
            </a:r>
            <a:endParaRPr>
              <a:solidFill>
                <a:schemeClr val="dk2"/>
              </a:solidFill>
            </a:endParaRPr>
          </a:p>
        </p:txBody>
      </p:sp>
      <p:sp>
        <p:nvSpPr>
          <p:cNvPr id="55" name="Google Shape;55;p13"/>
          <p:cNvSpPr txBox="1"/>
          <p:nvPr/>
        </p:nvSpPr>
        <p:spPr>
          <a:xfrm>
            <a:off x="185825" y="3434400"/>
            <a:ext cx="4509300" cy="200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College name: </a:t>
            </a:r>
            <a:r>
              <a:rPr lang="en" sz="1800">
                <a:solidFill>
                  <a:schemeClr val="dk2"/>
                </a:solidFill>
              </a:rPr>
              <a:t>skp Engineering College</a:t>
            </a:r>
            <a:endParaRPr sz="1800">
              <a:solidFill>
                <a:schemeClr val="dk2"/>
              </a:solidFill>
            </a:endParaRPr>
          </a:p>
          <a:p>
            <a:pPr indent="0" lvl="0" marL="0" rtl="0" algn="l">
              <a:spcBef>
                <a:spcPts val="0"/>
              </a:spcBef>
              <a:spcAft>
                <a:spcPts val="0"/>
              </a:spcAft>
              <a:buNone/>
            </a:pPr>
            <a:r>
              <a:rPr b="1" lang="en" sz="1800">
                <a:solidFill>
                  <a:schemeClr val="dk2"/>
                </a:solidFill>
              </a:rPr>
              <a:t>Department : </a:t>
            </a:r>
            <a:r>
              <a:rPr lang="en" sz="1800">
                <a:solidFill>
                  <a:schemeClr val="dk2"/>
                </a:solidFill>
              </a:rPr>
              <a:t>B.tech AIDS</a:t>
            </a:r>
            <a:endParaRPr sz="1800">
              <a:solidFill>
                <a:schemeClr val="dk2"/>
              </a:solidFill>
            </a:endParaRPr>
          </a:p>
          <a:p>
            <a:pPr indent="0" lvl="0" marL="0" rtl="0" algn="l">
              <a:spcBef>
                <a:spcPts val="0"/>
              </a:spcBef>
              <a:spcAft>
                <a:spcPts val="0"/>
              </a:spcAft>
              <a:buNone/>
            </a:pPr>
            <a:r>
              <a:rPr b="1" lang="en" sz="1800">
                <a:solidFill>
                  <a:schemeClr val="dk2"/>
                </a:solidFill>
              </a:rPr>
              <a:t>Year : </a:t>
            </a:r>
            <a:r>
              <a:rPr lang="en" sz="1800">
                <a:solidFill>
                  <a:schemeClr val="dk2"/>
                </a:solidFill>
              </a:rPr>
              <a:t>3rd Year</a:t>
            </a:r>
            <a:r>
              <a:rPr b="1" lang="en" sz="1800">
                <a:solidFill>
                  <a:schemeClr val="dk2"/>
                </a:solidFill>
              </a:rPr>
              <a:t>  </a:t>
            </a:r>
            <a:r>
              <a:rPr lang="en" sz="1800">
                <a:solidFill>
                  <a:schemeClr val="dk2"/>
                </a:solidFill>
              </a:rPr>
              <a:t>   </a:t>
            </a:r>
            <a:endParaRPr sz="1800">
              <a:solidFill>
                <a:schemeClr val="dk2"/>
              </a:solidFill>
            </a:endParaRPr>
          </a:p>
          <a:p>
            <a:pPr indent="0" lvl="0" marL="0" rtl="0" algn="l">
              <a:spcBef>
                <a:spcPts val="0"/>
              </a:spcBef>
              <a:spcAft>
                <a:spcPts val="0"/>
              </a:spcAft>
              <a:buNone/>
            </a:pPr>
            <a:r>
              <a:rPr b="1" lang="en" sz="1800">
                <a:solidFill>
                  <a:schemeClr val="dk2"/>
                </a:solidFill>
              </a:rPr>
              <a:t>Semester : </a:t>
            </a:r>
            <a:r>
              <a:rPr lang="en" sz="1800">
                <a:solidFill>
                  <a:schemeClr val="dk2"/>
                </a:solidFill>
              </a:rPr>
              <a:t>5th sem              </a:t>
            </a:r>
            <a:endParaRPr sz="1800">
              <a:solidFill>
                <a:schemeClr val="dk2"/>
              </a:solidFill>
            </a:endParaRPr>
          </a:p>
        </p:txBody>
      </p:sp>
      <p:sp>
        <p:nvSpPr>
          <p:cNvPr id="56" name="Google Shape;56;p13"/>
          <p:cNvSpPr txBox="1"/>
          <p:nvPr/>
        </p:nvSpPr>
        <p:spPr>
          <a:xfrm>
            <a:off x="392825" y="2066163"/>
            <a:ext cx="4302300" cy="114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Team members :</a:t>
            </a:r>
            <a:endParaRPr b="1" sz="1800">
              <a:solidFill>
                <a:schemeClr val="dk1"/>
              </a:solidFill>
            </a:endParaRPr>
          </a:p>
          <a:p>
            <a:pPr indent="0" lvl="0" marL="0" rtl="0" algn="l">
              <a:spcBef>
                <a:spcPts val="0"/>
              </a:spcBef>
              <a:spcAft>
                <a:spcPts val="0"/>
              </a:spcAft>
              <a:buNone/>
            </a:pPr>
            <a:r>
              <a:rPr lang="en" sz="1800">
                <a:solidFill>
                  <a:schemeClr val="dk1"/>
                </a:solidFill>
              </a:rPr>
              <a:t>                   </a:t>
            </a:r>
            <a:r>
              <a:rPr lang="en" sz="1800">
                <a:solidFill>
                  <a:schemeClr val="dk1"/>
                </a:solidFill>
              </a:rPr>
              <a:t>Mathan kumar. S</a:t>
            </a:r>
            <a:endParaRPr sz="1800">
              <a:solidFill>
                <a:schemeClr val="dk1"/>
              </a:solidFill>
            </a:endParaRPr>
          </a:p>
          <a:p>
            <a:pPr indent="0" lvl="0" marL="0" rtl="0" algn="l">
              <a:spcBef>
                <a:spcPts val="0"/>
              </a:spcBef>
              <a:spcAft>
                <a:spcPts val="0"/>
              </a:spcAft>
              <a:buNone/>
            </a:pPr>
            <a:r>
              <a:rPr lang="en" sz="1800">
                <a:solidFill>
                  <a:schemeClr val="dk1"/>
                </a:solidFill>
              </a:rPr>
              <a:t>                   Dhanalakshmi .S</a:t>
            </a:r>
            <a:endParaRPr sz="1800">
              <a:solidFill>
                <a:schemeClr val="dk1"/>
              </a:solidFill>
            </a:endParaRPr>
          </a:p>
          <a:p>
            <a:pPr indent="0" lvl="0" marL="0" rtl="0" algn="l">
              <a:spcBef>
                <a:spcPts val="0"/>
              </a:spcBef>
              <a:spcAft>
                <a:spcPts val="0"/>
              </a:spcAft>
              <a:buNone/>
            </a:pPr>
            <a:r>
              <a:rPr lang="en" sz="1800">
                <a:solidFill>
                  <a:schemeClr val="dk1"/>
                </a:solidFill>
              </a:rPr>
              <a:t>                   Jecikamary.D</a:t>
            </a:r>
            <a:endParaRPr sz="1800">
              <a:solidFill>
                <a:schemeClr val="dk1"/>
              </a:solidFill>
            </a:endParaRPr>
          </a:p>
        </p:txBody>
      </p:sp>
      <p:sp>
        <p:nvSpPr>
          <p:cNvPr id="57" name="Google Shape;57;p13"/>
          <p:cNvSpPr txBox="1"/>
          <p:nvPr/>
        </p:nvSpPr>
        <p:spPr>
          <a:xfrm>
            <a:off x="2648050" y="152625"/>
            <a:ext cx="3181200" cy="5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58" name="Google Shape;58;p13"/>
          <p:cNvSpPr txBox="1"/>
          <p:nvPr/>
        </p:nvSpPr>
        <p:spPr>
          <a:xfrm>
            <a:off x="1717800" y="-275"/>
            <a:ext cx="57084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2700">
                <a:solidFill>
                  <a:schemeClr val="dk2"/>
                </a:solidFill>
              </a:rPr>
              <a:t>RAPHAEL</a:t>
            </a:r>
            <a:endParaRPr b="1" i="1" sz="2700">
              <a:solidFill>
                <a:schemeClr val="dk2"/>
              </a:solidFill>
            </a:endParaRPr>
          </a:p>
        </p:txBody>
      </p:sp>
      <p:sp>
        <p:nvSpPr>
          <p:cNvPr id="59" name="Google Shape;59;p13"/>
          <p:cNvSpPr txBox="1"/>
          <p:nvPr/>
        </p:nvSpPr>
        <p:spPr>
          <a:xfrm>
            <a:off x="205200" y="1518425"/>
            <a:ext cx="8938800" cy="5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Problem Statement</a:t>
            </a:r>
            <a:r>
              <a:rPr b="1" lang="en" sz="2000">
                <a:solidFill>
                  <a:schemeClr val="dk2"/>
                </a:solidFill>
              </a:rPr>
              <a:t> : </a:t>
            </a:r>
            <a:r>
              <a:rPr lang="en" sz="1500">
                <a:solidFill>
                  <a:srgbClr val="3D4654"/>
                </a:solidFill>
                <a:highlight>
                  <a:srgbClr val="FFFFFF"/>
                </a:highlight>
              </a:rPr>
              <a:t>Implement a full 2FA flow (TOTP + backup codes) for a demo login system.</a:t>
            </a:r>
            <a:r>
              <a:rPr lang="en">
                <a:solidFill>
                  <a:schemeClr val="dk1"/>
                </a:solidFill>
              </a:rPr>
              <a:t> </a:t>
            </a:r>
            <a:endParaRPr b="1" sz="1700">
              <a:solidFill>
                <a:schemeClr val="dk1"/>
              </a:solidFill>
            </a:endParaRPr>
          </a:p>
          <a:p>
            <a:pPr indent="0" lvl="0" marL="0" rtl="0" algn="l">
              <a:spcBef>
                <a:spcPts val="0"/>
              </a:spcBef>
              <a:spcAft>
                <a:spcPts val="0"/>
              </a:spcAft>
              <a:buNone/>
            </a:pPr>
            <a:r>
              <a:t/>
            </a:r>
            <a:endParaRPr b="1" sz="1800">
              <a:solidFill>
                <a:schemeClr val="dk2"/>
              </a:solidFill>
            </a:endParaRPr>
          </a:p>
        </p:txBody>
      </p:sp>
      <p:sp>
        <p:nvSpPr>
          <p:cNvPr id="60" name="Google Shape;60;p13"/>
          <p:cNvSpPr txBox="1"/>
          <p:nvPr/>
        </p:nvSpPr>
        <p:spPr>
          <a:xfrm>
            <a:off x="2191800" y="318813"/>
            <a:ext cx="4965600" cy="35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100">
                <a:solidFill>
                  <a:schemeClr val="dk2"/>
                </a:solidFill>
              </a:rPr>
              <a:t>Cyber wolf Hackathon 2.0</a:t>
            </a:r>
            <a:endParaRPr sz="31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320"/>
              <a:t>Abstract </a:t>
            </a:r>
            <a:r>
              <a:rPr b="1" lang="en" sz="2320"/>
              <a:t>:</a:t>
            </a:r>
            <a:endParaRPr b="1" sz="2520"/>
          </a:p>
        </p:txBody>
      </p:sp>
      <p:sp>
        <p:nvSpPr>
          <p:cNvPr id="66" name="Google Shape;66;p14"/>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Clr>
                <a:schemeClr val="dk1"/>
              </a:buClr>
              <a:buSzPts val="1100"/>
              <a:buFont typeface="Arial"/>
              <a:buNone/>
            </a:pPr>
            <a:r>
              <a:rPr b="1" lang="en" sz="1900">
                <a:solidFill>
                  <a:schemeClr val="dk1"/>
                </a:solidFill>
              </a:rPr>
              <a:t>SecureAuthX Pro</a:t>
            </a:r>
            <a:r>
              <a:rPr lang="en" sz="1900">
                <a:solidFill>
                  <a:schemeClr val="dk1"/>
                </a:solidFill>
              </a:rPr>
              <a:t> is an enterprise-inspired authentication platform that demonstrates modern Zero-Trust security using multiple authentication methods such as secure password hashing, email verification, WebAuthn biometrics, TOTP, backup recovery codes, and trusted devices. It also includes advanced security features like rate limiting, account lockout, audit logging, and secure session management. Built entirely with free and open-source technologies, the platform showcases how layered authentication enhances account security while providing a seamless user experience.</a:t>
            </a:r>
            <a:endParaRPr sz="19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226150"/>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990"/>
              <a:buFont typeface="Arial"/>
              <a:buNone/>
            </a:pPr>
            <a:r>
              <a:rPr b="1" lang="en" sz="1930"/>
              <a:t>Purpose :</a:t>
            </a:r>
            <a:endParaRPr b="1" sz="2430"/>
          </a:p>
          <a:p>
            <a:pPr indent="0" lvl="0" marL="0" rtl="0" algn="l">
              <a:lnSpc>
                <a:spcPct val="115000"/>
              </a:lnSpc>
              <a:spcBef>
                <a:spcPts val="1200"/>
              </a:spcBef>
              <a:spcAft>
                <a:spcPts val="0"/>
              </a:spcAft>
              <a:buClr>
                <a:schemeClr val="dk1"/>
              </a:buClr>
              <a:buSzPts val="990"/>
              <a:buFont typeface="Arial"/>
              <a:buNone/>
            </a:pPr>
            <a:r>
              <a:rPr lang="en" sz="1390"/>
              <a:t>The primary goal of SecureAuthX Pro is to build a secure, scalable, and user-friendly authentication system that demonstrates modern cybersecurity practices.</a:t>
            </a:r>
            <a:endParaRPr sz="1390"/>
          </a:p>
          <a:p>
            <a:pPr indent="0" lvl="0" marL="0" rtl="0" algn="l">
              <a:lnSpc>
                <a:spcPct val="115000"/>
              </a:lnSpc>
              <a:spcBef>
                <a:spcPts val="1400"/>
              </a:spcBef>
              <a:spcAft>
                <a:spcPts val="0"/>
              </a:spcAft>
              <a:buClr>
                <a:schemeClr val="dk1"/>
              </a:buClr>
              <a:buSzPts val="990"/>
              <a:buFont typeface="Arial"/>
              <a:buNone/>
            </a:pPr>
            <a:r>
              <a:rPr b="1" lang="en" sz="1570"/>
              <a:t>Objectives :</a:t>
            </a:r>
            <a:endParaRPr b="1" sz="1570"/>
          </a:p>
          <a:p>
            <a:pPr indent="-316865" lvl="0" marL="457200" rtl="0" algn="l">
              <a:lnSpc>
                <a:spcPct val="115000"/>
              </a:lnSpc>
              <a:spcBef>
                <a:spcPts val="1200"/>
              </a:spcBef>
              <a:spcAft>
                <a:spcPts val="0"/>
              </a:spcAft>
              <a:buSzPts val="1390"/>
              <a:buChar char="●"/>
            </a:pPr>
            <a:r>
              <a:rPr lang="en" sz="1390"/>
              <a:t>Strengthen account security using Multi-Factor Authentication.</a:t>
            </a:r>
            <a:endParaRPr sz="1390"/>
          </a:p>
          <a:p>
            <a:pPr indent="-316865" lvl="0" marL="457200" rtl="0" algn="l">
              <a:lnSpc>
                <a:spcPct val="115000"/>
              </a:lnSpc>
              <a:spcBef>
                <a:spcPts val="0"/>
              </a:spcBef>
              <a:spcAft>
                <a:spcPts val="0"/>
              </a:spcAft>
              <a:buSzPts val="1390"/>
              <a:buChar char="●"/>
            </a:pPr>
            <a:r>
              <a:rPr lang="en" sz="1390"/>
              <a:t>Reduce risks from phishing and credential theft.</a:t>
            </a:r>
            <a:endParaRPr sz="1390"/>
          </a:p>
          <a:p>
            <a:pPr indent="-316865" lvl="0" marL="457200" rtl="0" algn="l">
              <a:lnSpc>
                <a:spcPct val="115000"/>
              </a:lnSpc>
              <a:spcBef>
                <a:spcPts val="0"/>
              </a:spcBef>
              <a:spcAft>
                <a:spcPts val="0"/>
              </a:spcAft>
              <a:buSzPts val="1390"/>
              <a:buChar char="●"/>
            </a:pPr>
            <a:r>
              <a:rPr lang="en" sz="1390"/>
              <a:t>Prevent brute-force attacks through rate limiting and account lockout.</a:t>
            </a:r>
            <a:endParaRPr sz="1390"/>
          </a:p>
          <a:p>
            <a:pPr indent="-316865" lvl="0" marL="457200" rtl="0" algn="l">
              <a:lnSpc>
                <a:spcPct val="115000"/>
              </a:lnSpc>
              <a:spcBef>
                <a:spcPts val="0"/>
              </a:spcBef>
              <a:spcAft>
                <a:spcPts val="0"/>
              </a:spcAft>
              <a:buSzPts val="1390"/>
              <a:buChar char="●"/>
            </a:pPr>
            <a:r>
              <a:rPr lang="en" sz="1390"/>
              <a:t>Provide secure account recovery using backup codes.</a:t>
            </a:r>
            <a:endParaRPr sz="1390"/>
          </a:p>
          <a:p>
            <a:pPr indent="-316865" lvl="0" marL="457200" rtl="0" algn="l">
              <a:lnSpc>
                <a:spcPct val="115000"/>
              </a:lnSpc>
              <a:spcBef>
                <a:spcPts val="0"/>
              </a:spcBef>
              <a:spcAft>
                <a:spcPts val="0"/>
              </a:spcAft>
              <a:buSzPts val="1390"/>
              <a:buChar char="●"/>
            </a:pPr>
            <a:r>
              <a:rPr lang="en" sz="1390"/>
              <a:t>Demonstrate passwordless authentication using WebAuthn biometrics.</a:t>
            </a:r>
            <a:endParaRPr sz="1390"/>
          </a:p>
          <a:p>
            <a:pPr indent="-316865" lvl="0" marL="457200" rtl="0" algn="l">
              <a:lnSpc>
                <a:spcPct val="115000"/>
              </a:lnSpc>
              <a:spcBef>
                <a:spcPts val="0"/>
              </a:spcBef>
              <a:spcAft>
                <a:spcPts val="0"/>
              </a:spcAft>
              <a:buSzPts val="1390"/>
              <a:buChar char="●"/>
            </a:pPr>
            <a:r>
              <a:rPr lang="en" sz="1390"/>
              <a:t>Promote Zero-Trust security principles.</a:t>
            </a:r>
            <a:endParaRPr sz="1390"/>
          </a:p>
          <a:p>
            <a:pPr indent="-316865" lvl="0" marL="457200" rtl="0" algn="l">
              <a:lnSpc>
                <a:spcPct val="115000"/>
              </a:lnSpc>
              <a:spcBef>
                <a:spcPts val="0"/>
              </a:spcBef>
              <a:spcAft>
                <a:spcPts val="0"/>
              </a:spcAft>
              <a:buSzPts val="1390"/>
              <a:buChar char="●"/>
            </a:pPr>
            <a:r>
              <a:rPr lang="en" sz="1390"/>
              <a:t>Showcase an enterprise-level authentication workflow built entirely with free and open-source technologies.</a:t>
            </a:r>
            <a:endParaRPr sz="1390"/>
          </a:p>
          <a:p>
            <a:pPr indent="0" lvl="0" marL="0" rtl="0" algn="l">
              <a:lnSpc>
                <a:spcPct val="115000"/>
              </a:lnSpc>
              <a:spcBef>
                <a:spcPts val="1400"/>
              </a:spcBef>
              <a:spcAft>
                <a:spcPts val="0"/>
              </a:spcAft>
              <a:buClr>
                <a:schemeClr val="dk1"/>
              </a:buClr>
              <a:buSzPts val="990"/>
              <a:buFont typeface="Arial"/>
              <a:buNone/>
            </a:pPr>
            <a:r>
              <a:rPr b="1" lang="en" sz="1570"/>
              <a:t>Expected Impact :</a:t>
            </a:r>
            <a:endParaRPr b="1" sz="1570"/>
          </a:p>
          <a:p>
            <a:pPr indent="0" lvl="0" marL="0" rtl="0" algn="l">
              <a:lnSpc>
                <a:spcPct val="115000"/>
              </a:lnSpc>
              <a:spcBef>
                <a:spcPts val="1200"/>
              </a:spcBef>
              <a:spcAft>
                <a:spcPts val="0"/>
              </a:spcAft>
              <a:buClr>
                <a:schemeClr val="dk1"/>
              </a:buClr>
              <a:buSzPts val="990"/>
              <a:buFont typeface="Arial"/>
              <a:buNone/>
            </a:pPr>
            <a:r>
              <a:rPr lang="en" sz="1390"/>
              <a:t>SecureAuthX Pro provides a practical demonstration of how organizations can enhance user security while maintaining a smooth authentication experience.</a:t>
            </a:r>
            <a:endParaRPr sz="1390"/>
          </a:p>
          <a:p>
            <a:pPr indent="0" lvl="0" marL="0" rtl="0" algn="l">
              <a:spcBef>
                <a:spcPts val="1200"/>
              </a:spcBef>
              <a:spcAft>
                <a:spcPts val="0"/>
              </a:spcAft>
              <a:buSzPts val="990"/>
              <a:buNone/>
            </a:pPr>
            <a:r>
              <a:t/>
            </a:r>
            <a:endParaRPr sz="292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0" y="212475"/>
            <a:ext cx="8520600" cy="14976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SzPts val="990"/>
              <a:buNone/>
            </a:pPr>
            <a:r>
              <a:rPr b="1" lang="en" sz="2030"/>
              <a:t>Project Concept :</a:t>
            </a:r>
            <a:endParaRPr b="1" sz="2030"/>
          </a:p>
          <a:p>
            <a:pPr indent="0" lvl="0" marL="0" rtl="0" algn="l">
              <a:lnSpc>
                <a:spcPct val="115000"/>
              </a:lnSpc>
              <a:spcBef>
                <a:spcPts val="1800"/>
              </a:spcBef>
              <a:spcAft>
                <a:spcPts val="0"/>
              </a:spcAft>
              <a:buClr>
                <a:schemeClr val="dk1"/>
              </a:buClr>
              <a:buSzPts val="990"/>
              <a:buFont typeface="Arial"/>
              <a:buNone/>
            </a:pPr>
            <a:r>
              <a:rPr b="1" lang="en" sz="2030"/>
              <a:t>                  </a:t>
            </a:r>
            <a:r>
              <a:rPr lang="en" sz="1490"/>
              <a:t>Traditional username-password authentication is no longer sufficient against today's cyber threats. SecureAuthX Pro introduces a Zero-Trust authentication model where every login is verified through multiple security layers.</a:t>
            </a:r>
            <a:endParaRPr sz="1490"/>
          </a:p>
          <a:p>
            <a:pPr indent="0" lvl="0" marL="0" rtl="0" algn="l">
              <a:spcBef>
                <a:spcPts val="400"/>
              </a:spcBef>
              <a:spcAft>
                <a:spcPts val="0"/>
              </a:spcAft>
              <a:buSzPts val="990"/>
              <a:buNone/>
            </a:pPr>
            <a:r>
              <a:t/>
            </a:r>
            <a:endParaRPr sz="3120"/>
          </a:p>
        </p:txBody>
      </p:sp>
      <p:sp>
        <p:nvSpPr>
          <p:cNvPr id="77" name="Google Shape;77;p16"/>
          <p:cNvSpPr txBox="1"/>
          <p:nvPr/>
        </p:nvSpPr>
        <p:spPr>
          <a:xfrm>
            <a:off x="218875" y="1887775"/>
            <a:ext cx="2462400" cy="317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900">
                <a:solidFill>
                  <a:schemeClr val="dk1"/>
                </a:solidFill>
              </a:rPr>
              <a:t>Development Tools</a:t>
            </a:r>
            <a:endParaRPr b="1" sz="19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 sz="1300">
                <a:solidFill>
                  <a:schemeClr val="dk1"/>
                </a:solidFill>
              </a:rPr>
              <a:t>Visual Studio Code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Node.js (LTS)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npm</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Git (for your own project only)</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Google Chrome / Microsoft Edge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Postman or Bruno</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DB Browser for SQLite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Google Authenticator (testing)</a:t>
            </a:r>
            <a:endParaRPr sz="1300">
              <a:solidFill>
                <a:schemeClr val="dk1"/>
              </a:solidFill>
            </a:endParaRPr>
          </a:p>
          <a:p>
            <a:pPr indent="0" lvl="0" marL="0" rtl="0" algn="l">
              <a:spcBef>
                <a:spcPts val="1200"/>
              </a:spcBef>
              <a:spcAft>
                <a:spcPts val="0"/>
              </a:spcAft>
              <a:buNone/>
            </a:pPr>
            <a:r>
              <a:t/>
            </a:r>
            <a:endParaRPr sz="1800">
              <a:solidFill>
                <a:schemeClr val="dk2"/>
              </a:solidFill>
            </a:endParaRPr>
          </a:p>
        </p:txBody>
      </p:sp>
      <p:sp>
        <p:nvSpPr>
          <p:cNvPr id="78" name="Google Shape;78;p16"/>
          <p:cNvSpPr txBox="1"/>
          <p:nvPr/>
        </p:nvSpPr>
        <p:spPr>
          <a:xfrm>
            <a:off x="2886375" y="1887700"/>
            <a:ext cx="2462400" cy="317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900">
                <a:solidFill>
                  <a:schemeClr val="dk1"/>
                </a:solidFill>
              </a:rPr>
              <a:t>Frontend</a:t>
            </a:r>
            <a:endParaRPr b="1" sz="19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 sz="1300">
                <a:solidFill>
                  <a:schemeClr val="dk1"/>
                </a:solidFill>
              </a:rPr>
              <a:t>React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Vite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TypeScript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Tailwind CSS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shadcn/ui</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React Router</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Axios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React Hook Form</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Zod</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Framer Motion</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Lucide React</a:t>
            </a:r>
            <a:endParaRPr sz="1300">
              <a:solidFill>
                <a:schemeClr val="dk1"/>
              </a:solidFill>
            </a:endParaRPr>
          </a:p>
          <a:p>
            <a:pPr indent="0" lvl="0" marL="0" rtl="0" algn="l">
              <a:spcBef>
                <a:spcPts val="1200"/>
              </a:spcBef>
              <a:spcAft>
                <a:spcPts val="0"/>
              </a:spcAft>
              <a:buNone/>
            </a:pPr>
            <a:r>
              <a:t/>
            </a:r>
            <a:endParaRPr sz="2000">
              <a:solidFill>
                <a:schemeClr val="dk2"/>
              </a:solidFill>
            </a:endParaRPr>
          </a:p>
        </p:txBody>
      </p:sp>
      <p:sp>
        <p:nvSpPr>
          <p:cNvPr id="79" name="Google Shape;79;p16"/>
          <p:cNvSpPr txBox="1"/>
          <p:nvPr/>
        </p:nvSpPr>
        <p:spPr>
          <a:xfrm>
            <a:off x="4951975" y="1887650"/>
            <a:ext cx="2352900" cy="317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900">
                <a:solidFill>
                  <a:schemeClr val="dk1"/>
                </a:solidFill>
              </a:rPr>
              <a:t>Backend</a:t>
            </a:r>
            <a:endParaRPr b="1" sz="1900">
              <a:solidFill>
                <a:schemeClr val="dk1"/>
              </a:solidFill>
            </a:endParaRPr>
          </a:p>
          <a:p>
            <a:pPr indent="-311150" lvl="0" marL="457200" rtl="0" algn="l">
              <a:lnSpc>
                <a:spcPct val="115000"/>
              </a:lnSpc>
              <a:spcBef>
                <a:spcPts val="1200"/>
              </a:spcBef>
              <a:spcAft>
                <a:spcPts val="0"/>
              </a:spcAft>
              <a:buClr>
                <a:schemeClr val="dk1"/>
              </a:buClr>
              <a:buSzPts val="1300"/>
              <a:buChar char="●"/>
            </a:pPr>
            <a:r>
              <a:rPr lang="en" sz="1300">
                <a:solidFill>
                  <a:schemeClr val="dk1"/>
                </a:solidFill>
              </a:rPr>
              <a:t>Node.js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Express.js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TypeScript</a:t>
            </a:r>
            <a:endParaRPr sz="1300">
              <a:solidFill>
                <a:schemeClr val="dk1"/>
              </a:solidFill>
            </a:endParaRPr>
          </a:p>
          <a:p>
            <a:pPr indent="0" lvl="0" marL="0" rtl="0" algn="l">
              <a:lnSpc>
                <a:spcPct val="115000"/>
              </a:lnSpc>
              <a:spcBef>
                <a:spcPts val="1800"/>
              </a:spcBef>
              <a:spcAft>
                <a:spcPts val="0"/>
              </a:spcAft>
              <a:buNone/>
            </a:pPr>
            <a:r>
              <a:rPr b="1" lang="en" sz="1700">
                <a:solidFill>
                  <a:schemeClr val="dk1"/>
                </a:solidFill>
              </a:rPr>
              <a:t>Database</a:t>
            </a:r>
            <a:endParaRPr b="1" sz="17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rPr>
              <a:t>SQLite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Prisma ORM</a:t>
            </a:r>
            <a:endParaRPr sz="12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73775" y="54750"/>
            <a:ext cx="8695500" cy="4363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1860"/>
              <a:t>Key Features:</a:t>
            </a:r>
            <a:endParaRPr b="1" sz="1860"/>
          </a:p>
          <a:p>
            <a:pPr indent="0" lvl="0" marL="0" rtl="0" algn="l">
              <a:spcBef>
                <a:spcPts val="0"/>
              </a:spcBef>
              <a:spcAft>
                <a:spcPts val="0"/>
              </a:spcAft>
              <a:buSzPts val="990"/>
              <a:buNone/>
            </a:pPr>
            <a:r>
              <a:rPr b="1" lang="en" sz="1860"/>
              <a:t>              </a:t>
            </a:r>
            <a:r>
              <a:rPr lang="en" sz="1760"/>
              <a:t>Secure User Signup &amp; Login</a:t>
            </a:r>
            <a:endParaRPr sz="1760"/>
          </a:p>
          <a:p>
            <a:pPr indent="0" lvl="0" marL="0" rtl="0" algn="l">
              <a:spcBef>
                <a:spcPts val="0"/>
              </a:spcBef>
              <a:spcAft>
                <a:spcPts val="0"/>
              </a:spcAft>
              <a:buClr>
                <a:schemeClr val="dk1"/>
              </a:buClr>
              <a:buSzPts val="990"/>
              <a:buFont typeface="Arial"/>
              <a:buNone/>
            </a:pPr>
            <a:r>
              <a:rPr lang="en" sz="1760"/>
              <a:t>               Email OTP Verification</a:t>
            </a:r>
            <a:endParaRPr sz="1760"/>
          </a:p>
          <a:p>
            <a:pPr indent="0" lvl="0" marL="0" rtl="0" algn="l">
              <a:spcBef>
                <a:spcPts val="0"/>
              </a:spcBef>
              <a:spcAft>
                <a:spcPts val="0"/>
              </a:spcAft>
              <a:buClr>
                <a:schemeClr val="dk1"/>
              </a:buClr>
              <a:buSzPts val="990"/>
              <a:buFont typeface="Arial"/>
              <a:buNone/>
            </a:pPr>
            <a:r>
              <a:rPr lang="en" sz="1760"/>
              <a:t>      	        Phone OTP Verification (Prototype)</a:t>
            </a:r>
            <a:endParaRPr sz="1760"/>
          </a:p>
          <a:p>
            <a:pPr indent="0" lvl="0" marL="0" rtl="0" algn="l">
              <a:spcBef>
                <a:spcPts val="0"/>
              </a:spcBef>
              <a:spcAft>
                <a:spcPts val="0"/>
              </a:spcAft>
              <a:buClr>
                <a:schemeClr val="dk1"/>
              </a:buClr>
              <a:buSzPts val="990"/>
              <a:buFont typeface="Arial"/>
              <a:buNone/>
            </a:pPr>
            <a:r>
              <a:rPr lang="en" sz="1760"/>
              <a:t> 		 Biometric Authentication (WebAuthn / Passkeys)</a:t>
            </a:r>
            <a:endParaRPr sz="1760"/>
          </a:p>
          <a:p>
            <a:pPr indent="0" lvl="0" marL="914400" rtl="0" algn="l">
              <a:spcBef>
                <a:spcPts val="0"/>
              </a:spcBef>
              <a:spcAft>
                <a:spcPts val="0"/>
              </a:spcAft>
              <a:buClr>
                <a:schemeClr val="dk1"/>
              </a:buClr>
              <a:buSzPts val="990"/>
              <a:buFont typeface="Arial"/>
              <a:buNone/>
            </a:pPr>
            <a:r>
              <a:rPr lang="en" sz="1760"/>
              <a:t> Google Authenticator (TOTP) Integration</a:t>
            </a:r>
            <a:endParaRPr sz="1760"/>
          </a:p>
          <a:p>
            <a:pPr indent="0" lvl="0" marL="0" rtl="0" algn="l">
              <a:spcBef>
                <a:spcPts val="0"/>
              </a:spcBef>
              <a:spcAft>
                <a:spcPts val="0"/>
              </a:spcAft>
              <a:buClr>
                <a:schemeClr val="dk1"/>
              </a:buClr>
              <a:buSzPts val="990"/>
              <a:buFont typeface="Arial"/>
              <a:buNone/>
            </a:pPr>
            <a:r>
              <a:rPr lang="en" sz="1760"/>
              <a:t>                QR Code-Based 2FA Setup</a:t>
            </a:r>
            <a:endParaRPr sz="1760"/>
          </a:p>
          <a:p>
            <a:pPr indent="0" lvl="0" marL="0" rtl="0" algn="l">
              <a:spcBef>
                <a:spcPts val="0"/>
              </a:spcBef>
              <a:spcAft>
                <a:spcPts val="0"/>
              </a:spcAft>
              <a:buClr>
                <a:schemeClr val="dk1"/>
              </a:buClr>
              <a:buSzPts val="990"/>
              <a:buFont typeface="Arial"/>
              <a:buNone/>
            </a:pPr>
            <a:r>
              <a:rPr lang="en" sz="1760"/>
              <a:t>                Backup Recovery Codes</a:t>
            </a:r>
            <a:endParaRPr sz="1760"/>
          </a:p>
          <a:p>
            <a:pPr indent="0" lvl="0" marL="0" rtl="0" algn="l">
              <a:spcBef>
                <a:spcPts val="0"/>
              </a:spcBef>
              <a:spcAft>
                <a:spcPts val="0"/>
              </a:spcAft>
              <a:buClr>
                <a:schemeClr val="dk1"/>
              </a:buClr>
              <a:buSzPts val="990"/>
              <a:buFont typeface="Arial"/>
              <a:buNone/>
            </a:pPr>
            <a:r>
              <a:rPr lang="en" sz="1760"/>
              <a:t>                Trusted Device Recognition</a:t>
            </a:r>
            <a:endParaRPr sz="1760"/>
          </a:p>
          <a:p>
            <a:pPr indent="0" lvl="0" marL="0" rtl="0" algn="l">
              <a:spcBef>
                <a:spcPts val="0"/>
              </a:spcBef>
              <a:spcAft>
                <a:spcPts val="0"/>
              </a:spcAft>
              <a:buClr>
                <a:schemeClr val="dk1"/>
              </a:buClr>
              <a:buSzPts val="990"/>
              <a:buFont typeface="Arial"/>
              <a:buNone/>
            </a:pPr>
            <a:r>
              <a:rPr lang="en" sz="1760"/>
              <a:t>                Rate Limiting &amp; Brute-Force Protection</a:t>
            </a:r>
            <a:endParaRPr sz="1760"/>
          </a:p>
          <a:p>
            <a:pPr indent="0" lvl="0" marL="0" rtl="0" algn="l">
              <a:spcBef>
                <a:spcPts val="0"/>
              </a:spcBef>
              <a:spcAft>
                <a:spcPts val="0"/>
              </a:spcAft>
              <a:buClr>
                <a:schemeClr val="dk1"/>
              </a:buClr>
              <a:buSzPts val="990"/>
              <a:buFont typeface="Arial"/>
              <a:buNone/>
            </a:pPr>
            <a:r>
              <a:rPr lang="en" sz="1760"/>
              <a:t>                Account Lockout After Failed Attempts</a:t>
            </a:r>
            <a:endParaRPr sz="1760"/>
          </a:p>
          <a:p>
            <a:pPr indent="0" lvl="0" marL="0" rtl="0" algn="l">
              <a:spcBef>
                <a:spcPts val="0"/>
              </a:spcBef>
              <a:spcAft>
                <a:spcPts val="0"/>
              </a:spcAft>
              <a:buClr>
                <a:schemeClr val="dk1"/>
              </a:buClr>
              <a:buSzPts val="990"/>
              <a:buFont typeface="Arial"/>
              <a:buNone/>
            </a:pPr>
            <a:r>
              <a:rPr lang="en" sz="1760"/>
              <a:t>                Security Dashboard &amp; Login History</a:t>
            </a:r>
            <a:endParaRPr sz="1760"/>
          </a:p>
          <a:p>
            <a:pPr indent="0" lvl="0" marL="0" rtl="0" algn="l">
              <a:spcBef>
                <a:spcPts val="0"/>
              </a:spcBef>
              <a:spcAft>
                <a:spcPts val="0"/>
              </a:spcAft>
              <a:buClr>
                <a:schemeClr val="dk1"/>
              </a:buClr>
              <a:buSzPts val="990"/>
              <a:buFont typeface="Arial"/>
              <a:buNone/>
            </a:pPr>
            <a:r>
              <a:rPr lang="en" sz="1760"/>
              <a:t>                Secure Account Recovery Flow</a:t>
            </a:r>
            <a:endParaRPr sz="1760"/>
          </a:p>
          <a:p>
            <a:pPr indent="0" lvl="0" marL="0" rtl="0" algn="l">
              <a:spcBef>
                <a:spcPts val="0"/>
              </a:spcBef>
              <a:spcAft>
                <a:spcPts val="0"/>
              </a:spcAft>
              <a:buSzPts val="990"/>
              <a:buNone/>
            </a:pPr>
            <a:r>
              <a:t/>
            </a:r>
            <a:endParaRPr b="1" sz="1860"/>
          </a:p>
        </p:txBody>
      </p:sp>
      <p:sp>
        <p:nvSpPr>
          <p:cNvPr id="85" name="Google Shape;85;p17"/>
          <p:cNvSpPr txBox="1"/>
          <p:nvPr/>
        </p:nvSpPr>
        <p:spPr>
          <a:xfrm>
            <a:off x="1162750" y="4076500"/>
            <a:ext cx="7510200" cy="8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a:t>
            </a:r>
            <a:r>
              <a:rPr b="1" i="1" lang="en" sz="3000" u="sng">
                <a:solidFill>
                  <a:schemeClr val="dk2"/>
                </a:solidFill>
              </a:rPr>
              <a:t>Thank you</a:t>
            </a:r>
            <a:endParaRPr b="1" i="1" sz="3000" u="sng">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